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4114800" cy="411480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4480560"/>
            <a:ext cx="3108960" cy="310896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09560" y="5120640"/>
            <a:ext cx="1463040" cy="14630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UPI • STRATEGI BISNIS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325880"/>
            <a:ext cx="5486400" cy="1417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 Display"/>
              </a:rPr>
              <a:t>Membedah
Ruangguru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63240"/>
            <a:ext cx="4663440" cy="6583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0">
                <a:solidFill>
                  <a:srgbClr val="E0EDFF"/>
                </a:solidFill>
                <a:latin typeface="Aptos"/>
              </a:rPr>
              <a:t>Analisis Ruangguru sebagai inspirasi bimbel anak berbasis PGSD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773168"/>
            <a:ext cx="2057400" cy="47548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10328"/>
            <a:ext cx="192024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08234E"/>
                </a:solidFill>
                <a:latin typeface="Aptos"/>
              </a:rPr>
              <a:t>ANALISIS 5 PERTANYAAN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188720"/>
            <a:ext cx="1965960" cy="3429000"/>
          </a:xfrm>
          <a:prstGeom prst="roundRect">
            <a:avLst>
              <a:gd name="adj" fmla="val 12000"/>
            </a:avLst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10727" y="1389888"/>
            <a:ext cx="1746504" cy="3044952"/>
          </a:xfrm>
          <a:prstGeom prst="rect">
            <a:avLst/>
          </a:prstGeom>
          <a:solidFill>
            <a:srgbClr val="F1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47404" y="12618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0456" y="1572768"/>
            <a:ext cx="1527048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0456" y="1901952"/>
            <a:ext cx="1417319" cy="109728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0456" y="2157984"/>
            <a:ext cx="1527048" cy="109728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0456" y="2414016"/>
            <a:ext cx="1252728" cy="109728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4192" y="1783080"/>
            <a:ext cx="475488" cy="47548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9" y="2609875"/>
            <a:ext cx="123444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500" b="1" dirty="0">
                <a:solidFill>
                  <a:srgbClr val="08234E"/>
                </a:solidFill>
                <a:latin typeface="Aptos"/>
              </a:rPr>
              <a:t>Ruang
</a:t>
            </a:r>
            <a:r>
              <a:rPr sz="1500" b="1" dirty="0" err="1">
                <a:solidFill>
                  <a:srgbClr val="08234E"/>
                </a:solidFill>
                <a:latin typeface="Aptos"/>
              </a:rPr>
              <a:t>belajar</a:t>
            </a:r>
            <a:endParaRPr sz="1500" b="1" dirty="0">
              <a:solidFill>
                <a:srgbClr val="08234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50608" y="5989320"/>
            <a:ext cx="411480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Klik tombol di menu untuk berpindah antar bagian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PETA PRESENTASI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Pilih pintu masuk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Deck ini dirancang seperti mini-workshop: klik topik, baca analisis, lalu uji keputusanmu.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85800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276856"/>
            <a:ext cx="502920" cy="50292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258568"/>
            <a:ext cx="2057400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Siapa yang
terlibat?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98648"/>
            <a:ext cx="205740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Pengguna • pembeli • decision maker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4434840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2276856"/>
            <a:ext cx="502920" cy="50292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502920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2258568"/>
            <a:ext cx="2057400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Masalah
pertama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898648"/>
            <a:ext cx="205740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Dari les privat ke akses belajar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8183879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2276856"/>
            <a:ext cx="502920" cy="502920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502920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258568"/>
            <a:ext cx="2057400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Mengapa
banyak produk?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898648"/>
            <a:ext cx="205740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Portofolio untuk momen yang berbeda</a:t>
            </a:r>
          </a:p>
        </p:txBody>
      </p:sp>
      <p:sp>
        <p:nvSpPr>
          <p:cNvPr id="20" name="Rounded Rectangle 19">
            <a:hlinkClick r:id="rId5" action="ppaction://hlinksldjump"/>
          </p:cNvPr>
          <p:cNvSpPr/>
          <p:nvPr/>
        </p:nvSpPr>
        <p:spPr>
          <a:xfrm>
            <a:off x="685800" y="393192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4151376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502920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133087"/>
            <a:ext cx="2057400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Apa yang bisa
ditirukan?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773168"/>
            <a:ext cx="205740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Produk digital yang realistis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4434840" y="393192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40" y="4151376"/>
            <a:ext cx="502920" cy="502920"/>
          </a:xfrm>
          <a:prstGeom prst="ellipse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4297680"/>
            <a:ext cx="502920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4133087"/>
            <a:ext cx="2057400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Apa yang
tidak realistis?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773168"/>
            <a:ext cx="205740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Skala, data, dan ekosistem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968496"/>
            <a:ext cx="24231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08234E"/>
                </a:solidFill>
                <a:latin typeface="Aptos"/>
              </a:rPr>
              <a:t>Bonus: kuis keputusan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352544"/>
            <a:ext cx="2743200" cy="43891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Di akhir, susun layanan bimbel anak yang realistis untuk dimulai.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Siapa yang terlibat dalam bimbel anak?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Untuk bimbel PGSD, anak belajar; orang tua membayar dan biasanya menentukan pilihan.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70832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83296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50161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508760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Oval 9"/>
          <p:cNvSpPr/>
          <p:nvPr/>
        </p:nvSpPr>
        <p:spPr>
          <a:xfrm>
            <a:off x="1881835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90318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085539"/>
            <a:ext cx="2651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154A6"/>
                </a:solidFill>
                <a:latin typeface="Aptos"/>
              </a:rPr>
              <a:t>PENGGUNA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2"/>
            <a:ext cx="2651760" cy="6217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Ingin paham, senang belajar,
dan berani mencoba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166360"/>
            <a:ext cx="2743200" cy="43891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Pemicu: tugas, membaca,
berhitung, dan butuh pendampingan</a:t>
            </a:r>
          </a:p>
        </p:txBody>
      </p:sp>
      <p:sp>
        <p:nvSpPr>
          <p:cNvPr id="16" name="Oval 15"/>
          <p:cNvSpPr/>
          <p:nvPr/>
        </p:nvSpPr>
        <p:spPr>
          <a:xfrm>
            <a:off x="5471769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30368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03443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11926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4085539"/>
            <a:ext cx="2651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200" b="1" dirty="0">
                <a:solidFill>
                  <a:srgbClr val="F76F5C"/>
                </a:solidFill>
                <a:latin typeface="Aptos"/>
              </a:rPr>
              <a:t>PEMBELI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4370832"/>
            <a:ext cx="2651760" cy="6217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Orang tua atau wali
yang membayar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5166360"/>
            <a:ext cx="2743200" cy="43891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Pemicu: keamanan anak, hasil,
harga, dan kepercayaan</a:t>
            </a:r>
          </a:p>
        </p:txBody>
      </p:sp>
      <p:sp>
        <p:nvSpPr>
          <p:cNvPr id="24" name="Oval 23"/>
          <p:cNvSpPr/>
          <p:nvPr/>
        </p:nvSpPr>
        <p:spPr>
          <a:xfrm>
            <a:off x="9184233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42832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15907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24390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4085539"/>
            <a:ext cx="283464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200" b="1" dirty="0">
                <a:solidFill>
                  <a:srgbClr val="54C4A3"/>
                </a:solidFill>
                <a:latin typeface="Aptos"/>
              </a:rPr>
              <a:t>PENGAMBIL KEPUTUSAN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370832"/>
            <a:ext cx="2834640" cy="6217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Biasanya orang tua/wali;
anak ikut memengaruhi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5166360"/>
            <a:ext cx="2834640" cy="43891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Momen kunci: memilih jadwal,
paket, dan memperpanjang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03</a:t>
            </a:r>
          </a:p>
        </p:txBody>
      </p:sp>
      <p:sp>
        <p:nvSpPr>
          <p:cNvPr id="35" name="Rounded Rectangle 34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Masalah pertama: akses belajar yang tidak merata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Bukan sekadar “butuh video”; yang dicari adalah dukungan belajar yang lebih mudah dijangkau.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977639"/>
            <a:ext cx="9875520" cy="0"/>
          </a:xfrm>
          <a:prstGeom prst="line">
            <a:avLst/>
          </a:prstGeom>
          <a:ln w="38100">
            <a:solidFill>
              <a:srgbClr val="115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3639312"/>
            <a:ext cx="658368" cy="65836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31336"/>
            <a:ext cx="658368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505456"/>
            <a:ext cx="1691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76F5C"/>
                </a:solidFill>
                <a:latin typeface="Aptos"/>
              </a:rPr>
              <a:t>SEBELUMNYA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4526280"/>
            <a:ext cx="2240280" cy="5486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Les privat
mahal &amp; terikat jadwal</a:t>
            </a:r>
          </a:p>
        </p:txBody>
      </p:sp>
      <p:sp>
        <p:nvSpPr>
          <p:cNvPr id="10" name="Oval 9"/>
          <p:cNvSpPr/>
          <p:nvPr/>
        </p:nvSpPr>
        <p:spPr>
          <a:xfrm>
            <a:off x="3886200" y="3639312"/>
            <a:ext cx="658368" cy="6583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3831336"/>
            <a:ext cx="658368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05456"/>
            <a:ext cx="1691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FFC72C"/>
                </a:solidFill>
                <a:latin typeface="Aptos"/>
              </a:rPr>
              <a:t>GANGGUAN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26280"/>
            <a:ext cx="2240280" cy="5486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Siswa butuh
pendampingan fleksibel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639312"/>
            <a:ext cx="658368" cy="658368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3831336"/>
            <a:ext cx="658368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05456"/>
            <a:ext cx="1691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54C4A3"/>
                </a:solidFill>
                <a:latin typeface="Aptos"/>
              </a:rPr>
              <a:t>SOLUSI 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526280"/>
            <a:ext cx="2240280" cy="5486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Materi digital
yang bisa diulang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3639312"/>
            <a:ext cx="658368" cy="658368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9800" y="3831336"/>
            <a:ext cx="658368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05456"/>
            <a:ext cx="1691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000" b="1">
                <a:solidFill>
                  <a:srgbClr val="1154A6"/>
                </a:solidFill>
                <a:latin typeface="Aptos"/>
              </a:rPr>
              <a:t>HASIL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526280"/>
            <a:ext cx="2240280" cy="5486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Belajar lebih
terjangkau &amp; scalable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5532120"/>
            <a:ext cx="10195560" cy="475488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200" b="1">
                <a:solidFill>
                  <a:srgbClr val="1154A6"/>
                </a:solidFill>
                <a:latin typeface="Aptos"/>
              </a:rPr>
              <a:t>Inti masalah = akses + kualitas + konsistensi, bukan hanya distribusi konten.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Mengapa tidak cukup satu program?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Karena kebutuhan belajar berubah menurut usia, tujuan, momen, dan kemampuan membayar.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4754880" cy="3840480"/>
          </a:xfrm>
          <a:prstGeom prst="roundRect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240280"/>
            <a:ext cx="237744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Aptos"/>
              </a:rPr>
              <a:t>SATU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926080" cy="74980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Seperti satu ukuran
untuk semua kaki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0520"/>
            <a:ext cx="3291840" cy="4572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300" b="0">
                <a:solidFill>
                  <a:srgbClr val="DDE9FA"/>
                </a:solidFill>
                <a:latin typeface="Aptos"/>
              </a:rPr>
              <a:t>Risiko: tidak cocok untuk
semua segmen dan momen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4315968"/>
            <a:ext cx="1188720" cy="502920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4480560"/>
            <a:ext cx="1078992" cy="1554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FIT RENDAH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240280"/>
            <a:ext cx="21945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1">
                <a:solidFill>
                  <a:srgbClr val="1154A6"/>
                </a:solidFill>
                <a:latin typeface="Aptos"/>
              </a:rPr>
              <a:t>PORTOFOLIO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3640" y="2971800"/>
            <a:ext cx="411480" cy="41148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93992" y="2980944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SD–SMA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310128"/>
            <a:ext cx="114300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41080" y="2971800"/>
            <a:ext cx="411480" cy="41148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2980944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UTBK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310128"/>
            <a:ext cx="114300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096512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63640" y="4325112"/>
            <a:ext cx="411480" cy="411480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4334256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Mandiri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663440"/>
            <a:ext cx="114300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096512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41080" y="4325112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1432" y="4334256"/>
            <a:ext cx="11430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Orang tua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663440"/>
            <a:ext cx="114300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532120"/>
            <a:ext cx="4251960" cy="5486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1">
                <a:solidFill>
                  <a:srgbClr val="08234E"/>
                </a:solidFill>
                <a:latin typeface="Aptos"/>
              </a:rPr>
              <a:t>Portofolio = memperluas funnel,
memperpanjang lifetime value, dan
membuat ekosistem belajar.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05</a:t>
            </a:r>
          </a:p>
        </p:txBody>
      </p:sp>
      <p:sp>
        <p:nvSpPr>
          <p:cNvPr id="32" name="Rounded Rectangle 31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Produk yang paling mungkin ditiru PGSD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Ambil logika layanan Ruangguru, lalu sederhanakan untuk kebutuhan anak dan kapasitas mahasiswa.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01952"/>
            <a:ext cx="3794760" cy="4069080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2834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KANDIDAT TERKUAT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51760"/>
            <a:ext cx="3200400" cy="7863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Bimbel anak
berbasis pendampingan</a:t>
            </a:r>
          </a:p>
        </p:txBody>
      </p:sp>
      <p:sp>
        <p:nvSpPr>
          <p:cNvPr id="8" name="Oval 7"/>
          <p:cNvSpPr/>
          <p:nvPr/>
        </p:nvSpPr>
        <p:spPr>
          <a:xfrm>
            <a:off x="1042415" y="4050791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3977639"/>
            <a:ext cx="270662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Modul bermain dan lembar kerja</a:t>
            </a:r>
          </a:p>
        </p:txBody>
      </p:sp>
      <p:sp>
        <p:nvSpPr>
          <p:cNvPr id="10" name="Oval 9"/>
          <p:cNvSpPr/>
          <p:nvPr/>
        </p:nvSpPr>
        <p:spPr>
          <a:xfrm>
            <a:off x="1042415" y="4443983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4370831"/>
            <a:ext cx="270662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Kelas kecil yang interaktif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4837176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4764024"/>
            <a:ext cx="270662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Pendampingan membaca dan berhitung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523036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5157216"/>
            <a:ext cx="270662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Laporan perkembangan untuk orang tua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938528"/>
            <a:ext cx="621792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58384" y="2286000"/>
            <a:ext cx="23774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KENAPA REALISTIS?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331720"/>
            <a:ext cx="1234440" cy="2468880"/>
          </a:xfrm>
          <a:prstGeom prst="roundRect">
            <a:avLst>
              <a:gd name="adj" fmla="val 12000"/>
            </a:avLst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73767" y="2532888"/>
            <a:ext cx="1014984" cy="2084832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44684" y="24048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83496" y="2715768"/>
            <a:ext cx="795528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83496" y="3044952"/>
            <a:ext cx="685800" cy="109728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3496" y="3300984"/>
            <a:ext cx="795528" cy="109728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83496" y="3557015"/>
            <a:ext cx="521208" cy="109728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94960" y="2862072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14416" y="2788920"/>
            <a:ext cx="35295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Mulai dari satu target: kelas 1–3 atau satu kemampuan dasar</a:t>
            </a:r>
          </a:p>
        </p:txBody>
      </p:sp>
      <p:sp>
        <p:nvSpPr>
          <p:cNvPr id="27" name="Oval 26"/>
          <p:cNvSpPr/>
          <p:nvPr/>
        </p:nvSpPr>
        <p:spPr>
          <a:xfrm>
            <a:off x="5394960" y="3502152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14416" y="3429000"/>
            <a:ext cx="35295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Diferensiasi lewat pendekatan bermain khas PGSD</a:t>
            </a:r>
          </a:p>
        </p:txBody>
      </p:sp>
      <p:sp>
        <p:nvSpPr>
          <p:cNvPr id="29" name="Oval 28"/>
          <p:cNvSpPr/>
          <p:nvPr/>
        </p:nvSpPr>
        <p:spPr>
          <a:xfrm>
            <a:off x="5394960" y="4142231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14416" y="4069079"/>
            <a:ext cx="35295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MVP dapat diuji pada 5–10 anak selama 4 minggu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0" y="4782312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14416" y="4709159"/>
            <a:ext cx="35295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Pendapatan: paket bulanan atau kelas per pertemuan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06</a:t>
            </a:r>
          </a:p>
        </p:txBody>
      </p:sp>
      <p:sp>
        <p:nvSpPr>
          <p:cNvPr id="36" name="Rounded Rectangle 35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Yang tidak realistis pada tahap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Jangan meniru permukaan besar Ruangguru sebelum fondasi kecilnya terbukti.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3246120" cy="146304"/>
          </a:xfrm>
          <a:prstGeom prst="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423160"/>
            <a:ext cx="25603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76F5C"/>
                </a:solidFill>
                <a:latin typeface="Aptos"/>
              </a:rPr>
              <a:t>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26080"/>
            <a:ext cx="2514600" cy="6400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Marketplace tutor +
semua jenjang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3886200"/>
            <a:ext cx="2587753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3271" y="4133087"/>
            <a:ext cx="2468880" cy="58521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Terlalu banyak sisi
yang harus diaktifkan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07992" y="1965960"/>
            <a:ext cx="3246120" cy="14630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2423160"/>
            <a:ext cx="25603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AI PERSONALISASI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926080"/>
            <a:ext cx="2514600" cy="6400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Rekomendasi belajar
skala jutaan siswa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28032" y="3886200"/>
            <a:ext cx="2587752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28032" y="4133087"/>
            <a:ext cx="2468880" cy="58521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Butuh data, evaluasi,
dan infrastruktur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02752" y="1965960"/>
            <a:ext cx="3246120" cy="146304"/>
          </a:xfrm>
          <a:prstGeom prst="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25603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BRAND NASIONAL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926080"/>
            <a:ext cx="2514600" cy="6400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Akuisisi massal
dan endorsement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22792" y="3886200"/>
            <a:ext cx="2587752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22792" y="4133087"/>
            <a:ext cx="2468880" cy="58521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Biaya marketing dan
trust sangat tinggi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897880"/>
            <a:ext cx="1024128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600" b="1">
                <a:solidFill>
                  <a:srgbClr val="08234E"/>
                </a:solidFill>
                <a:latin typeface="Aptos"/>
              </a:rPr>
              <a:t>Urutan yang sehat: niche → bukti hasil → sistem → skala.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07</a:t>
            </a:r>
          </a:p>
        </p:txBody>
      </p:sp>
      <p:sp>
        <p:nvSpPr>
          <p:cNvPr id="27" name="Rounded Rectangle 26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RANCANGAN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Contoh bimbel anak yang bisa dimulai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Gunakan kekuatan mahasiswa PGSD: memahami tahap perkembangan anak, belajar aktif, dan komunikasi dengan orang tua.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38528"/>
            <a:ext cx="3657600" cy="3794760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1031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PROGRAM INTI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43200"/>
            <a:ext cx="2926080" cy="74980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Kelas Ceria
Baca, Hitung, Tumbuh</a:t>
            </a:r>
          </a:p>
        </p:txBody>
      </p:sp>
      <p:sp>
        <p:nvSpPr>
          <p:cNvPr id="8" name="Oval 7"/>
          <p:cNvSpPr/>
          <p:nvPr/>
        </p:nvSpPr>
        <p:spPr>
          <a:xfrm>
            <a:off x="1060704" y="4050791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977639"/>
            <a:ext cx="252374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Kelompok kecil 5–8 anak</a:t>
            </a:r>
          </a:p>
        </p:txBody>
      </p:sp>
      <p:sp>
        <p:nvSpPr>
          <p:cNvPr id="10" name="Oval 9"/>
          <p:cNvSpPr/>
          <p:nvPr/>
        </p:nvSpPr>
        <p:spPr>
          <a:xfrm>
            <a:off x="1060704" y="4443983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4370831"/>
            <a:ext cx="252374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2 kali per minggu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" y="4837176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764024"/>
            <a:ext cx="252374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Durasi 60–75 menit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" y="523036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5157216"/>
            <a:ext cx="2523744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Laporan singkat untuk orang tua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938528"/>
            <a:ext cx="63093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800" y="2286000"/>
            <a:ext cx="246888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ALUR PENGALAMAN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2788920"/>
            <a:ext cx="420624" cy="420624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2916936"/>
            <a:ext cx="420624" cy="14630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770632"/>
            <a:ext cx="16459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Kenali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118103"/>
            <a:ext cx="1737360" cy="21945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cek kemampuan awal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0" y="2788920"/>
            <a:ext cx="420624" cy="420624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916936"/>
            <a:ext cx="420624" cy="14630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100" b="1">
                <a:solidFill>
                  <a:srgbClr val="08234E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770632"/>
            <a:ext cx="16459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Dampingi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118103"/>
            <a:ext cx="1737360" cy="21945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belajar lewat permainan</a:t>
            </a:r>
          </a:p>
        </p:txBody>
      </p:sp>
      <p:sp>
        <p:nvSpPr>
          <p:cNvPr id="26" name="Oval 25"/>
          <p:cNvSpPr/>
          <p:nvPr/>
        </p:nvSpPr>
        <p:spPr>
          <a:xfrm>
            <a:off x="5257800" y="4023360"/>
            <a:ext cx="420624" cy="420624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4151376"/>
            <a:ext cx="420624" cy="14630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005072"/>
            <a:ext cx="16459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Pantau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352544"/>
            <a:ext cx="1737360" cy="21945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catat perkembangan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4023360"/>
            <a:ext cx="420624" cy="420624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4151376"/>
            <a:ext cx="420624" cy="14630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005072"/>
            <a:ext cx="16459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Komunikasikan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352544"/>
            <a:ext cx="1737360" cy="21945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beri umpan balik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2" y="5321808"/>
            <a:ext cx="512064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200" b="1">
                <a:solidFill>
                  <a:srgbClr val="1154A6"/>
                </a:solidFill>
                <a:latin typeface="Aptos"/>
              </a:rPr>
              <a:t>Mulai kecil, ukur perkembangan anak, lalu kembangkan program.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08</a:t>
            </a:r>
          </a:p>
        </p:txBody>
      </p:sp>
      <p:sp>
        <p:nvSpPr>
          <p:cNvPr id="38" name="Rounded Rectangle 37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5303520" cy="246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LIMA JAWABAN DALAM SATU NAPAS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8138160" cy="8229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Dari Ruangguru, yang ditiru bukan ukurannya.
Yang ditiru adalah logika layanan belajarnya.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41148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508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Siapa?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3087"/>
            <a:ext cx="1536192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Siswa memakai;
orang tua sering membeli.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27248" y="3246120"/>
            <a:ext cx="41148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F76F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3611880"/>
            <a:ext cx="1508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Masalah?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4133087"/>
            <a:ext cx="1536192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Akses belajar yang
lebih fleksibel.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0096" y="3246120"/>
            <a:ext cx="41148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54C4A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3611880"/>
            <a:ext cx="1508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Mengapa banyak?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4133087"/>
            <a:ext cx="1536192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Segmen dan momen
belajar berbeda.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52944" y="3246120"/>
            <a:ext cx="41148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FFC72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3611880"/>
            <a:ext cx="1508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Tiru apa?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4133087"/>
            <a:ext cx="1536192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Bimbel anak
berbasis pendampingan.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65792" y="3246120"/>
            <a:ext cx="41148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3611880"/>
            <a:ext cx="150876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Hindari apa?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4133087"/>
            <a:ext cx="1536192" cy="5029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Skala, AI, dan
ekosistem terlalu dini.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Aptos"/>
              </a:rPr>
              <a:t>Pertanyaan penutup: kemampuan dasar apa yang ingin kalian bantu minggu ini?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10</a:t>
            </a:r>
          </a:p>
        </p:txBody>
      </p:sp>
      <p:sp>
        <p:nvSpPr>
          <p:cNvPr id="28" name="Rounded Rectangle 27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CATATAN SUMBER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Basis analisis dan cara membaca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Beberapa kesimpulan bersifat analitis: gunakan sebagai hipotesis strategi, bukan klaim laporan keuangan.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400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210312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SUMBER RUJUKAN</a:t>
            </a:r>
          </a:p>
        </p:txBody>
      </p:sp>
      <p:sp>
        <p:nvSpPr>
          <p:cNvPr id="7" name="Oval 6"/>
          <p:cNvSpPr/>
          <p:nvPr/>
        </p:nvSpPr>
        <p:spPr>
          <a:xfrm>
            <a:off x="1078992" y="2816352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743200"/>
            <a:ext cx="53583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Ruangguru — halaman produk dan layanan belajar: ruangguru.com</a:t>
            </a:r>
          </a:p>
        </p:txBody>
      </p:sp>
      <p:sp>
        <p:nvSpPr>
          <p:cNvPr id="9" name="Oval 8"/>
          <p:cNvSpPr/>
          <p:nvPr/>
        </p:nvSpPr>
        <p:spPr>
          <a:xfrm>
            <a:off x="1078992" y="3438144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3364992"/>
            <a:ext cx="53583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Google Play — deskripsi aplikasi Ruangguru dan fitur pengguna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4059936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3986784"/>
            <a:ext cx="53583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Publikasi media bisnis Indonesia tentang model edtech dan pembelajaran digital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468172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4608576"/>
            <a:ext cx="5358383" cy="32918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Observasi strategi produk: segmentasi, bundling, dan freemium / subscription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20240"/>
            <a:ext cx="3657600" cy="3840480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2267712"/>
            <a:ext cx="283464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GUNAKAN SAAT PRESENTASI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816352"/>
            <a:ext cx="265176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Klik MENU
untuk lompat topik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886200"/>
            <a:ext cx="2743200" cy="56692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500" b="1">
                <a:solidFill>
                  <a:srgbClr val="08234E"/>
                </a:solidFill>
                <a:latin typeface="Aptos"/>
              </a:rPr>
              <a:t>Gunakan contoh PGSD
untuk memancing diskusi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074920"/>
            <a:ext cx="27432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Terakhir diperbarui: September 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11</a:t>
            </a:r>
          </a:p>
        </p:txBody>
      </p:sp>
      <p:sp>
        <p:nvSpPr>
          <p:cNvPr id="23" name="Rounded Rectangle 22">
            <a:hlinkClick r:id="rId2" action="ppaction://hlinksldjump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849</Words>
  <Application>Microsoft Office PowerPoint</Application>
  <PresentationFormat>Widescreen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Fadhil Yusup</cp:lastModifiedBy>
  <cp:revision>2</cp:revision>
  <dcterms:created xsi:type="dcterms:W3CDTF">2013-01-27T09:14:16Z</dcterms:created>
  <dcterms:modified xsi:type="dcterms:W3CDTF">2026-09-18T07:04:19Z</dcterms:modified>
  <cp:category/>
</cp:coreProperties>
</file>