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-914400"/>
            <a:ext cx="4114800" cy="4114800"/>
          </a:xfrm>
          <a:prstGeom prst="ellipse">
            <a:avLst/>
          </a:prstGeom>
          <a:solidFill>
            <a:srgbClr val="11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4480560"/>
            <a:ext cx="3108960" cy="3108960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09560" y="5120640"/>
            <a:ext cx="1463040" cy="146304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713232"/>
            <a:ext cx="4754880" cy="25603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1">
                <a:solidFill>
                  <a:srgbClr val="FFC72C"/>
                </a:solidFill>
                <a:latin typeface="Aptos"/>
              </a:rPr>
              <a:t>UPI • STRATEGI BISNIS DIGITAL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1325880"/>
            <a:ext cx="5486400" cy="1417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3900" b="1">
                <a:solidFill>
                  <a:srgbClr val="FFFFFF"/>
                </a:solidFill>
                <a:latin typeface="Aptos Display"/>
              </a:rPr>
              <a:t>Membedah
Ruangguru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3063240"/>
            <a:ext cx="4663440" cy="65836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700" b="0">
                <a:solidFill>
                  <a:srgbClr val="E0EDFF"/>
                </a:solidFill>
                <a:latin typeface="Aptos"/>
              </a:rPr>
              <a:t>Dari masalah belajar sampai produk yang mungkin ditiru bimbel mahasiswa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4773168"/>
            <a:ext cx="2057400" cy="475488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910328"/>
            <a:ext cx="192024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000" b="1">
                <a:solidFill>
                  <a:srgbClr val="08234E"/>
                </a:solidFill>
                <a:latin typeface="Aptos"/>
              </a:rPr>
              <a:t>ANALISIS 5 PERTANYAAN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1188720"/>
            <a:ext cx="1965960" cy="3429000"/>
          </a:xfrm>
          <a:prstGeom prst="roundRect">
            <a:avLst>
              <a:gd name="adj" fmla="val 12000"/>
            </a:avLst>
          </a:prstGeom>
          <a:solidFill>
            <a:srgbClr val="08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10727" y="1389888"/>
            <a:ext cx="1746504" cy="3044952"/>
          </a:xfrm>
          <a:prstGeom prst="rect">
            <a:avLst/>
          </a:prstGeom>
          <a:solidFill>
            <a:srgbClr val="F1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947404" y="126187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0456" y="1572768"/>
            <a:ext cx="1527048" cy="164592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0456" y="1901952"/>
            <a:ext cx="1417319" cy="109728"/>
          </a:xfrm>
          <a:prstGeom prst="roundRect">
            <a:avLst/>
          </a:prstGeom>
          <a:solidFill>
            <a:srgbClr val="11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0456" y="2157984"/>
            <a:ext cx="1527048" cy="109728"/>
          </a:xfrm>
          <a:prstGeom prst="roundRect">
            <a:avLst/>
          </a:prstGeom>
          <a:solidFill>
            <a:srgbClr val="54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0456" y="2414016"/>
            <a:ext cx="1252728" cy="109728"/>
          </a:xfrm>
          <a:prstGeom prst="roundRect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94192" y="1783080"/>
            <a:ext cx="475488" cy="475488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395728"/>
            <a:ext cx="1234440" cy="4572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500" b="1">
                <a:solidFill>
                  <a:srgbClr val="08234E"/>
                </a:solidFill>
                <a:latin typeface="Aptos"/>
              </a:rPr>
              <a:t>Ruang
belajar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5989320"/>
            <a:ext cx="411480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Aptos"/>
              </a:rPr>
              <a:t>Klik tombol di menu untuk berpindah antar bagian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1">
                <a:solidFill>
                  <a:srgbClr val="1154A6"/>
                </a:solidFill>
                <a:latin typeface="Aptos"/>
              </a:rPr>
              <a:t>PETA PRESENTASI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600" b="1">
                <a:solidFill>
                  <a:srgbClr val="08234E"/>
                </a:solidFill>
                <a:latin typeface="Aptos Display"/>
              </a:rPr>
              <a:t>Pilih pintu masuk analisis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69848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0">
                <a:solidFill>
                  <a:srgbClr val="5D6D84"/>
                </a:solidFill>
                <a:latin typeface="Aptos"/>
              </a:rPr>
              <a:t>Deck ini dirancang seperti mini-workshop: klik topik, baca analisis, lalu uji keputusanmu.</a:t>
            </a:r>
          </a:p>
        </p:txBody>
      </p:sp>
      <p:sp>
        <p:nvSpPr>
          <p:cNvPr id="5" name="Rounded Rectangle 4">
            <a:hlinkClick action="ppaction://hlinksldjump" r:id="rId2"/>
          </p:cNvPr>
          <p:cNvSpPr/>
          <p:nvPr/>
        </p:nvSpPr>
        <p:spPr>
          <a:xfrm>
            <a:off x="685800" y="2057400"/>
            <a:ext cx="3246120" cy="1389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276856"/>
            <a:ext cx="502920" cy="502920"/>
          </a:xfrm>
          <a:prstGeom prst="ellipse">
            <a:avLst/>
          </a:prstGeom>
          <a:solidFill>
            <a:srgbClr val="11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502920" cy="15544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81912" y="2258568"/>
            <a:ext cx="2057400" cy="5029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700" b="1">
                <a:solidFill>
                  <a:srgbClr val="08234E"/>
                </a:solidFill>
                <a:latin typeface="Aptos"/>
              </a:rPr>
              <a:t>Siapa yang
terlibat?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81912" y="2898648"/>
            <a:ext cx="2057400" cy="24688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0">
                <a:solidFill>
                  <a:srgbClr val="5D6D84"/>
                </a:solidFill>
                <a:latin typeface="Aptos"/>
              </a:rPr>
              <a:t>Pengguna • pembeli • decision maker</a:t>
            </a:r>
          </a:p>
        </p:txBody>
      </p:sp>
      <p:sp>
        <p:nvSpPr>
          <p:cNvPr id="10" name="Rounded Rectangle 9">
            <a:hlinkClick action="ppaction://hlinksldjump" r:id="rId3"/>
          </p:cNvPr>
          <p:cNvSpPr/>
          <p:nvPr/>
        </p:nvSpPr>
        <p:spPr>
          <a:xfrm>
            <a:off x="4434840" y="2057400"/>
            <a:ext cx="3246120" cy="1389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663440" y="2276856"/>
            <a:ext cx="502920" cy="502920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423160"/>
            <a:ext cx="502920" cy="15544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30952" y="2258568"/>
            <a:ext cx="2057400" cy="5029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700" b="1">
                <a:solidFill>
                  <a:srgbClr val="08234E"/>
                </a:solidFill>
                <a:latin typeface="Aptos"/>
              </a:rPr>
              <a:t>Masalah
pertama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2898648"/>
            <a:ext cx="2057400" cy="24688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0">
                <a:solidFill>
                  <a:srgbClr val="5D6D84"/>
                </a:solidFill>
                <a:latin typeface="Aptos"/>
              </a:rPr>
              <a:t>Dari les privat ke akses belajar</a:t>
            </a:r>
          </a:p>
        </p:txBody>
      </p:sp>
      <p:sp>
        <p:nvSpPr>
          <p:cNvPr id="15" name="Rounded Rectangle 14">
            <a:hlinkClick action="ppaction://hlinksldjump" r:id="rId4"/>
          </p:cNvPr>
          <p:cNvSpPr/>
          <p:nvPr/>
        </p:nvSpPr>
        <p:spPr>
          <a:xfrm>
            <a:off x="8183879" y="2057400"/>
            <a:ext cx="3246120" cy="1389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2276856"/>
            <a:ext cx="502920" cy="502920"/>
          </a:xfrm>
          <a:prstGeom prst="ellipse">
            <a:avLst/>
          </a:prstGeom>
          <a:solidFill>
            <a:srgbClr val="54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2423160"/>
            <a:ext cx="502920" cy="15544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9992" y="2258568"/>
            <a:ext cx="2057400" cy="5029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700" b="1">
                <a:solidFill>
                  <a:srgbClr val="08234E"/>
                </a:solidFill>
                <a:latin typeface="Aptos"/>
              </a:rPr>
              <a:t>Mengapa
banyak produk?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9992" y="2898648"/>
            <a:ext cx="2057400" cy="24688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0">
                <a:solidFill>
                  <a:srgbClr val="5D6D84"/>
                </a:solidFill>
                <a:latin typeface="Aptos"/>
              </a:rPr>
              <a:t>Portofolio untuk momen yang berbeda</a:t>
            </a:r>
          </a:p>
        </p:txBody>
      </p:sp>
      <p:sp>
        <p:nvSpPr>
          <p:cNvPr id="20" name="Rounded Rectangle 19">
            <a:hlinkClick action="ppaction://hlinksldjump" r:id="rId5"/>
          </p:cNvPr>
          <p:cNvSpPr/>
          <p:nvPr/>
        </p:nvSpPr>
        <p:spPr>
          <a:xfrm>
            <a:off x="685800" y="3931920"/>
            <a:ext cx="3246120" cy="1389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14400" y="4151376"/>
            <a:ext cx="502920" cy="50292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297680"/>
            <a:ext cx="502920" cy="15544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1912" y="4133087"/>
            <a:ext cx="2057400" cy="5029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700" b="1">
                <a:solidFill>
                  <a:srgbClr val="08234E"/>
                </a:solidFill>
                <a:latin typeface="Aptos"/>
              </a:rPr>
              <a:t>Apa yang bisa
ditirukan?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81912" y="4773168"/>
            <a:ext cx="2057400" cy="24688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0">
                <a:solidFill>
                  <a:srgbClr val="5D6D84"/>
                </a:solidFill>
                <a:latin typeface="Aptos"/>
              </a:rPr>
              <a:t>Produk digital yang realistis</a:t>
            </a:r>
          </a:p>
        </p:txBody>
      </p:sp>
      <p:sp>
        <p:nvSpPr>
          <p:cNvPr id="25" name="Rounded Rectangle 24">
            <a:hlinkClick action="ppaction://hlinksldjump" r:id="rId6"/>
          </p:cNvPr>
          <p:cNvSpPr/>
          <p:nvPr/>
        </p:nvSpPr>
        <p:spPr>
          <a:xfrm>
            <a:off x="4434840" y="3931920"/>
            <a:ext cx="3246120" cy="138988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663440" y="4151376"/>
            <a:ext cx="502920" cy="502920"/>
          </a:xfrm>
          <a:prstGeom prst="ellipse">
            <a:avLst/>
          </a:prstGeom>
          <a:solidFill>
            <a:srgbClr val="08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63440" y="4297680"/>
            <a:ext cx="502920" cy="15544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0952" y="4133087"/>
            <a:ext cx="2057400" cy="5029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700" b="1">
                <a:solidFill>
                  <a:srgbClr val="08234E"/>
                </a:solidFill>
                <a:latin typeface="Aptos"/>
              </a:rPr>
              <a:t>Apa yang
tidak realistis?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2" y="4773168"/>
            <a:ext cx="2057400" cy="24688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0">
                <a:solidFill>
                  <a:srgbClr val="5D6D84"/>
                </a:solidFill>
                <a:latin typeface="Aptos"/>
              </a:rPr>
              <a:t>Skala, data, dan ekosistem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83879" y="3968496"/>
            <a:ext cx="242316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08234E"/>
                </a:solidFill>
                <a:latin typeface="Aptos"/>
              </a:rPr>
              <a:t>Bonus: kuis keputusan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4352544"/>
            <a:ext cx="2743200" cy="4389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0">
                <a:solidFill>
                  <a:srgbClr val="5D6D84"/>
                </a:solidFill>
                <a:latin typeface="Aptos"/>
              </a:rPr>
              <a:t>Di akhir, pilih strategi bimbel mahasiswa yang paling masuk akal.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" y="6510528"/>
            <a:ext cx="301752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800" b="1">
                <a:solidFill>
                  <a:srgbClr val="5D6D84"/>
                </a:solidFill>
                <a:latin typeface="Aptos"/>
              </a:rPr>
              <a:t>UPI • ANALISIS BISNIS DIGITAL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900" b="1">
                <a:solidFill>
                  <a:srgbClr val="1154A6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1">
                <a:solidFill>
                  <a:srgbClr val="1154A6"/>
                </a:solidFill>
                <a:latin typeface="Aptos"/>
              </a:rPr>
              <a:t>PERTANYAAN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600" b="1">
                <a:solidFill>
                  <a:srgbClr val="08234E"/>
                </a:solidFill>
                <a:latin typeface="Aptos Display"/>
              </a:rPr>
              <a:t>Tiga orang, tiga pekerjaan berbeda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69848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0">
                <a:solidFill>
                  <a:srgbClr val="5D6D84"/>
                </a:solidFill>
                <a:latin typeface="Aptos"/>
              </a:rPr>
              <a:t>Kesalahan umum: menganggap pengguna, pembeli, dan pengambil keputusan selalu orang yang sama.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20240"/>
            <a:ext cx="3401568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70832" y="1920240"/>
            <a:ext cx="3401568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83296" y="1920240"/>
            <a:ext cx="3401568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50161" y="2423160"/>
            <a:ext cx="504748" cy="504748"/>
          </a:xfrm>
          <a:prstGeom prst="ellipse">
            <a:avLst/>
          </a:prstGeom>
          <a:solidFill>
            <a:srgbClr val="F4B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508760" y="2884017"/>
            <a:ext cx="1009497" cy="1119225"/>
          </a:xfrm>
          <a:prstGeom prst="roundRect">
            <a:avLst>
              <a:gd name="adj" fmla="val 35000"/>
            </a:avLst>
          </a:prstGeom>
          <a:solidFill>
            <a:srgbClr val="11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881835" y="2598724"/>
            <a:ext cx="65836" cy="65836"/>
          </a:xfrm>
          <a:prstGeom prst="ellipse">
            <a:avLst/>
          </a:prstGeom>
          <a:solidFill>
            <a:srgbClr val="17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090318" y="2598724"/>
            <a:ext cx="65836" cy="65836"/>
          </a:xfrm>
          <a:prstGeom prst="ellipse">
            <a:avLst/>
          </a:prstGeom>
          <a:solidFill>
            <a:srgbClr val="17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11249" y="4091025"/>
            <a:ext cx="1404518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000" b="1">
                <a:solidFill>
                  <a:srgbClr val="08234E"/>
                </a:solidFill>
                <a:latin typeface="Aptos"/>
              </a:rPr>
              <a:t>SISWA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950208"/>
            <a:ext cx="265176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200" b="1">
                <a:solidFill>
                  <a:srgbClr val="1154A6"/>
                </a:solidFill>
                <a:latin typeface="Aptos"/>
              </a:rPr>
              <a:t>PENGGUNA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70832"/>
            <a:ext cx="2651760" cy="6217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700" b="1">
                <a:solidFill>
                  <a:srgbClr val="08234E"/>
                </a:solidFill>
                <a:latin typeface="Aptos"/>
              </a:rPr>
              <a:t>Mencari paham, nilai,
dan rasa percaya diri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166360"/>
            <a:ext cx="2743200" cy="4389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000" b="0">
                <a:solidFill>
                  <a:srgbClr val="5D6D84"/>
                </a:solidFill>
                <a:latin typeface="Aptos"/>
              </a:rPr>
              <a:t>Pemicu: materi sulit,
ujian, dan kebutuhan fleksibilitas</a:t>
            </a:r>
          </a:p>
        </p:txBody>
      </p:sp>
      <p:sp>
        <p:nvSpPr>
          <p:cNvPr id="16" name="Oval 15"/>
          <p:cNvSpPr/>
          <p:nvPr/>
        </p:nvSpPr>
        <p:spPr>
          <a:xfrm>
            <a:off x="5471769" y="2423160"/>
            <a:ext cx="504748" cy="504748"/>
          </a:xfrm>
          <a:prstGeom prst="ellipse">
            <a:avLst/>
          </a:prstGeom>
          <a:solidFill>
            <a:srgbClr val="F4B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30368" y="2884017"/>
            <a:ext cx="1009497" cy="1119225"/>
          </a:xfrm>
          <a:prstGeom prst="roundRect">
            <a:avLst>
              <a:gd name="adj" fmla="val 35000"/>
            </a:avLst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603443" y="2598724"/>
            <a:ext cx="65836" cy="65836"/>
          </a:xfrm>
          <a:prstGeom prst="ellipse">
            <a:avLst/>
          </a:prstGeom>
          <a:solidFill>
            <a:srgbClr val="17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811926" y="2598724"/>
            <a:ext cx="65836" cy="65836"/>
          </a:xfrm>
          <a:prstGeom prst="ellipse">
            <a:avLst/>
          </a:prstGeom>
          <a:solidFill>
            <a:srgbClr val="17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2857" y="4091025"/>
            <a:ext cx="1404518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000" b="1">
                <a:solidFill>
                  <a:srgbClr val="08234E"/>
                </a:solidFill>
                <a:latin typeface="Aptos"/>
              </a:rPr>
              <a:t>PEMBELI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18304" y="3950208"/>
            <a:ext cx="265176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200" b="1">
                <a:solidFill>
                  <a:srgbClr val="F76F5C"/>
                </a:solidFill>
                <a:latin typeface="Aptos"/>
              </a:rPr>
              <a:t>PEMBELI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18304" y="4370832"/>
            <a:ext cx="2651760" cy="6217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700" b="1">
                <a:solidFill>
                  <a:srgbClr val="08234E"/>
                </a:solidFill>
                <a:latin typeface="Aptos"/>
              </a:rPr>
              <a:t>Sering kali orang tua
yang membayar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00016" y="5166360"/>
            <a:ext cx="2743200" cy="4389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000" b="0">
                <a:solidFill>
                  <a:srgbClr val="5D6D84"/>
                </a:solidFill>
                <a:latin typeface="Aptos"/>
              </a:rPr>
              <a:t>Pemicu: reputasi, bukti hasil,
harga, dan rasa aman</a:t>
            </a:r>
          </a:p>
        </p:txBody>
      </p:sp>
      <p:sp>
        <p:nvSpPr>
          <p:cNvPr id="24" name="Oval 23"/>
          <p:cNvSpPr/>
          <p:nvPr/>
        </p:nvSpPr>
        <p:spPr>
          <a:xfrm>
            <a:off x="9184233" y="2423160"/>
            <a:ext cx="504748" cy="504748"/>
          </a:xfrm>
          <a:prstGeom prst="ellipse">
            <a:avLst/>
          </a:prstGeom>
          <a:solidFill>
            <a:srgbClr val="F4BF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42832" y="2884017"/>
            <a:ext cx="1009497" cy="1119225"/>
          </a:xfrm>
          <a:prstGeom prst="roundRect">
            <a:avLst>
              <a:gd name="adj" fmla="val 35000"/>
            </a:avLst>
          </a:prstGeom>
          <a:solidFill>
            <a:srgbClr val="54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15907" y="2598724"/>
            <a:ext cx="65836" cy="65836"/>
          </a:xfrm>
          <a:prstGeom prst="ellipse">
            <a:avLst/>
          </a:prstGeom>
          <a:solidFill>
            <a:srgbClr val="17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24390" y="2598724"/>
            <a:ext cx="65836" cy="65836"/>
          </a:xfrm>
          <a:prstGeom prst="ellipse">
            <a:avLst/>
          </a:prstGeom>
          <a:solidFill>
            <a:srgbClr val="172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45321" y="4091025"/>
            <a:ext cx="1404518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000" b="1">
                <a:solidFill>
                  <a:srgbClr val="08234E"/>
                </a:solidFill>
                <a:latin typeface="Aptos"/>
              </a:rPr>
              <a:t>KEPUTUSAN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4192" y="3950208"/>
            <a:ext cx="283464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200" b="1">
                <a:solidFill>
                  <a:srgbClr val="54C4A3"/>
                </a:solidFill>
                <a:latin typeface="Aptos"/>
              </a:rPr>
              <a:t>PENGAMBIL KEPUTUSAN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4370832"/>
            <a:ext cx="2834640" cy="6217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700" b="1">
                <a:solidFill>
                  <a:srgbClr val="08234E"/>
                </a:solidFill>
                <a:latin typeface="Aptos"/>
              </a:rPr>
              <a:t>Bisa siswa sendiri,
orang tua, atau keduanya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5166360"/>
            <a:ext cx="2834640" cy="43891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000" b="0">
                <a:solidFill>
                  <a:srgbClr val="5D6D84"/>
                </a:solidFill>
                <a:latin typeface="Aptos"/>
              </a:rPr>
              <a:t>Momen kunci: memilih program,
upgrade, atau berhenti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" y="6510528"/>
            <a:ext cx="301752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800" b="1">
                <a:solidFill>
                  <a:srgbClr val="5D6D84"/>
                </a:solidFill>
                <a:latin typeface="Aptos"/>
              </a:rPr>
              <a:t>UPI • ANALISIS BISNIS DIGITAL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900" b="1">
                <a:solidFill>
                  <a:srgbClr val="1154A6"/>
                </a:solidFill>
                <a:latin typeface="Aptos"/>
              </a:rPr>
              <a:t>03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10378440" y="256032"/>
            <a:ext cx="1143000" cy="329184"/>
          </a:xfrm>
          <a:prstGeom prst="round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442448" y="310896"/>
            <a:ext cx="100584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900" b="1">
                <a:solidFill>
                  <a:srgbClr val="1154A6"/>
                </a:solidFill>
                <a:latin typeface="Aptos"/>
              </a:rPr>
              <a:t>MENU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1">
                <a:solidFill>
                  <a:srgbClr val="1154A6"/>
                </a:solidFill>
                <a:latin typeface="Aptos"/>
              </a:rPr>
              <a:t>PERTANYAAN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600" b="1">
                <a:solidFill>
                  <a:srgbClr val="08234E"/>
                </a:solidFill>
                <a:latin typeface="Aptos Display"/>
              </a:rPr>
              <a:t>Masalah pertama: akses belajar yang tidak merata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69848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0">
                <a:solidFill>
                  <a:srgbClr val="5D6D84"/>
                </a:solidFill>
                <a:latin typeface="Aptos"/>
              </a:rPr>
              <a:t>Bukan sekadar “butuh video”; yang dicari adalah dukungan belajar yang lebih mudah dijangkau.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3977639"/>
            <a:ext cx="9875520" cy="0"/>
          </a:xfrm>
          <a:prstGeom prst="line">
            <a:avLst/>
          </a:prstGeom>
          <a:ln w="38100">
            <a:solidFill>
              <a:srgbClr val="1154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914400" y="3639312"/>
            <a:ext cx="658368" cy="658368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831336"/>
            <a:ext cx="658368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79" y="2505456"/>
            <a:ext cx="169164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000" b="1">
                <a:solidFill>
                  <a:srgbClr val="F76F5C"/>
                </a:solidFill>
                <a:latin typeface="Aptos"/>
              </a:rPr>
              <a:t>SEBELUMNYA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" y="4526280"/>
            <a:ext cx="2240280" cy="5486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400" b="1">
                <a:solidFill>
                  <a:srgbClr val="08234E"/>
                </a:solidFill>
                <a:latin typeface="Aptos"/>
              </a:rPr>
              <a:t>Les privat
mahal &amp; terikat jadwal</a:t>
            </a:r>
          </a:p>
        </p:txBody>
      </p:sp>
      <p:sp>
        <p:nvSpPr>
          <p:cNvPr id="10" name="Oval 9"/>
          <p:cNvSpPr/>
          <p:nvPr/>
        </p:nvSpPr>
        <p:spPr>
          <a:xfrm>
            <a:off x="3886200" y="3639312"/>
            <a:ext cx="658368" cy="65836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86200" y="3831336"/>
            <a:ext cx="658368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505456"/>
            <a:ext cx="169164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000" b="1">
                <a:solidFill>
                  <a:srgbClr val="FFC72C"/>
                </a:solidFill>
                <a:latin typeface="Aptos"/>
              </a:rPr>
              <a:t>GANGGUAN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526280"/>
            <a:ext cx="2240280" cy="5486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400" b="1">
                <a:solidFill>
                  <a:srgbClr val="08234E"/>
                </a:solidFill>
                <a:latin typeface="Aptos"/>
              </a:rPr>
              <a:t>Siswa butuh
pendampingan fleksibel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0" y="3639312"/>
            <a:ext cx="658368" cy="658368"/>
          </a:xfrm>
          <a:prstGeom prst="ellipse">
            <a:avLst/>
          </a:prstGeom>
          <a:solidFill>
            <a:srgbClr val="54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0" y="3831336"/>
            <a:ext cx="658368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505456"/>
            <a:ext cx="169164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000" b="1">
                <a:solidFill>
                  <a:srgbClr val="54C4A3"/>
                </a:solidFill>
                <a:latin typeface="Aptos"/>
              </a:rPr>
              <a:t>SOLUSI AWAL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4526280"/>
            <a:ext cx="2240280" cy="5486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400" b="1">
                <a:solidFill>
                  <a:srgbClr val="08234E"/>
                </a:solidFill>
                <a:latin typeface="Aptos"/>
              </a:rPr>
              <a:t>Materi digital
yang bisa diulang</a:t>
            </a:r>
          </a:p>
        </p:txBody>
      </p:sp>
      <p:sp>
        <p:nvSpPr>
          <p:cNvPr id="18" name="Oval 17"/>
          <p:cNvSpPr/>
          <p:nvPr/>
        </p:nvSpPr>
        <p:spPr>
          <a:xfrm>
            <a:off x="9829800" y="3639312"/>
            <a:ext cx="658368" cy="658368"/>
          </a:xfrm>
          <a:prstGeom prst="ellipse">
            <a:avLst/>
          </a:prstGeom>
          <a:solidFill>
            <a:srgbClr val="11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3831336"/>
            <a:ext cx="658368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505456"/>
            <a:ext cx="169164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000" b="1">
                <a:solidFill>
                  <a:srgbClr val="1154A6"/>
                </a:solidFill>
                <a:latin typeface="Aptos"/>
              </a:rPr>
              <a:t>HASIL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4526280"/>
            <a:ext cx="2240280" cy="5486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400" b="1">
                <a:solidFill>
                  <a:srgbClr val="08234E"/>
                </a:solidFill>
                <a:latin typeface="Aptos"/>
              </a:rPr>
              <a:t>Belajar lebih
terjangkau &amp; scalable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" y="5532120"/>
            <a:ext cx="10195560" cy="475488"/>
          </a:xfrm>
          <a:prstGeom prst="round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650992"/>
            <a:ext cx="9875520" cy="20116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200" b="1">
                <a:solidFill>
                  <a:srgbClr val="1154A6"/>
                </a:solidFill>
                <a:latin typeface="Aptos"/>
              </a:rPr>
              <a:t>Inti masalah = akses + kualitas + konsistensi, bukan hanya distribusi konten.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6510528"/>
            <a:ext cx="301752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800" b="1">
                <a:solidFill>
                  <a:srgbClr val="5D6D84"/>
                </a:solidFill>
                <a:latin typeface="Aptos"/>
              </a:rPr>
              <a:t>UPI • ANALISIS BISNIS DIGITAL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900" b="1">
                <a:solidFill>
                  <a:srgbClr val="1154A6"/>
                </a:solidFill>
                <a:latin typeface="Aptos"/>
              </a:rPr>
              <a:t>04</a:t>
            </a:r>
          </a:p>
        </p:txBody>
      </p:sp>
      <p:sp>
        <p:nvSpPr>
          <p:cNvPr id="27" name="Rounded Rectangle 26">
            <a:hlinkClick action="ppaction://hlinksldjump" r:id="rId2"/>
          </p:cNvPr>
          <p:cNvSpPr/>
          <p:nvPr/>
        </p:nvSpPr>
        <p:spPr>
          <a:xfrm>
            <a:off x="10378440" y="256032"/>
            <a:ext cx="1143000" cy="329184"/>
          </a:xfrm>
          <a:prstGeom prst="round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42448" y="310896"/>
            <a:ext cx="100584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900" b="1">
                <a:solidFill>
                  <a:srgbClr val="1154A6"/>
                </a:solidFill>
                <a:latin typeface="Aptos"/>
              </a:rPr>
              <a:t>MENU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1">
                <a:solidFill>
                  <a:srgbClr val="1154A6"/>
                </a:solidFill>
                <a:latin typeface="Aptos"/>
              </a:rPr>
              <a:t>PERTANYAAN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600" b="1">
                <a:solidFill>
                  <a:srgbClr val="08234E"/>
                </a:solidFill>
                <a:latin typeface="Aptos Display"/>
              </a:rPr>
              <a:t>Mengapa tidak cukup satu program?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69848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0">
                <a:solidFill>
                  <a:srgbClr val="5D6D84"/>
                </a:solidFill>
                <a:latin typeface="Aptos"/>
              </a:rPr>
              <a:t>Karena kebutuhan belajar berubah menurut usia, tujuan, momen, dan kemampuan membayar.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20240"/>
            <a:ext cx="4754880" cy="3840480"/>
          </a:xfrm>
          <a:prstGeom prst="roundRect">
            <a:avLst/>
          </a:prstGeom>
          <a:solidFill>
            <a:srgbClr val="08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240280"/>
            <a:ext cx="237744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200" b="1">
                <a:solidFill>
                  <a:srgbClr val="FFC72C"/>
                </a:solidFill>
                <a:latin typeface="Aptos"/>
              </a:rPr>
              <a:t>SATU PROGRAM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97480"/>
            <a:ext cx="2926080" cy="74980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 Display"/>
              </a:rPr>
              <a:t>Seperti satu ukuran
untuk semua kaki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4160520"/>
            <a:ext cx="3291840" cy="4572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DDE9FA"/>
                </a:solidFill>
                <a:latin typeface="Aptos"/>
              </a:rPr>
              <a:t>Risiko: tidak cocok untuk
semua segmen dan momen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67328" y="4315968"/>
            <a:ext cx="1188720" cy="502920"/>
          </a:xfrm>
          <a:prstGeom prst="roundRect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22191" y="4480560"/>
            <a:ext cx="1078992" cy="15544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FIT RENDAH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53328" y="2240280"/>
            <a:ext cx="219456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200" b="1">
                <a:solidFill>
                  <a:srgbClr val="1154A6"/>
                </a:solidFill>
                <a:latin typeface="Aptos"/>
              </a:rPr>
              <a:t>PORTOFOLIO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60" y="2743200"/>
            <a:ext cx="20116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263640" y="2971800"/>
            <a:ext cx="411480" cy="411480"/>
          </a:xfrm>
          <a:prstGeom prst="ellipse">
            <a:avLst/>
          </a:prstGeom>
          <a:solidFill>
            <a:srgbClr val="11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93992" y="2980944"/>
            <a:ext cx="114300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400" b="1">
                <a:solidFill>
                  <a:srgbClr val="08234E"/>
                </a:solidFill>
                <a:latin typeface="Aptos"/>
              </a:rPr>
              <a:t>SD–SMA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93992" y="3310128"/>
            <a:ext cx="11430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900" b="0">
                <a:solidFill>
                  <a:srgbClr val="5D6D84"/>
                </a:solidFill>
                <a:latin typeface="Aptos"/>
              </a:rPr>
              <a:t>kebutuhan berbeda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58200" y="2743200"/>
            <a:ext cx="20116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41080" y="2971800"/>
            <a:ext cx="411480" cy="411480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71432" y="2980944"/>
            <a:ext cx="114300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400" b="1">
                <a:solidFill>
                  <a:srgbClr val="08234E"/>
                </a:solidFill>
                <a:latin typeface="Aptos"/>
              </a:rPr>
              <a:t>UTBK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71432" y="3310128"/>
            <a:ext cx="11430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900" b="0">
                <a:solidFill>
                  <a:srgbClr val="5D6D84"/>
                </a:solidFill>
                <a:latin typeface="Aptos"/>
              </a:rPr>
              <a:t>kebutuhan berbeda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4096512"/>
            <a:ext cx="20116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263640" y="4325112"/>
            <a:ext cx="411480" cy="411480"/>
          </a:xfrm>
          <a:prstGeom prst="ellipse">
            <a:avLst/>
          </a:prstGeom>
          <a:solidFill>
            <a:srgbClr val="54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4334256"/>
            <a:ext cx="114300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400" b="1">
                <a:solidFill>
                  <a:srgbClr val="08234E"/>
                </a:solidFill>
                <a:latin typeface="Aptos"/>
              </a:rPr>
              <a:t>Mandiri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4663440"/>
            <a:ext cx="11430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900" b="0">
                <a:solidFill>
                  <a:srgbClr val="5D6D84"/>
                </a:solidFill>
                <a:latin typeface="Aptos"/>
              </a:rPr>
              <a:t>kebutuhan berbeda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58200" y="4096512"/>
            <a:ext cx="20116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641080" y="4325112"/>
            <a:ext cx="411480" cy="411480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1432" y="4334256"/>
            <a:ext cx="114300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400" b="1">
                <a:solidFill>
                  <a:srgbClr val="08234E"/>
                </a:solidFill>
                <a:latin typeface="Aptos"/>
              </a:rPr>
              <a:t>Orang tua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4663440"/>
            <a:ext cx="114300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900" b="0">
                <a:solidFill>
                  <a:srgbClr val="5D6D84"/>
                </a:solidFill>
                <a:latin typeface="Aptos"/>
              </a:rPr>
              <a:t>kebutuhan berbeda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5532120"/>
            <a:ext cx="4251960" cy="54864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200" b="1">
                <a:solidFill>
                  <a:srgbClr val="08234E"/>
                </a:solidFill>
                <a:latin typeface="Aptos"/>
              </a:rPr>
              <a:t>Portofolio = memperluas funnel,
memperpanjang lifetime value, dan
membuat ekosistem belajar.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40080" y="6510528"/>
            <a:ext cx="301752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800" b="1">
                <a:solidFill>
                  <a:srgbClr val="5D6D84"/>
                </a:solidFill>
                <a:latin typeface="Aptos"/>
              </a:rPr>
              <a:t>UPI • ANALISIS BISNIS DIGITAL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900" b="1">
                <a:solidFill>
                  <a:srgbClr val="1154A6"/>
                </a:solidFill>
                <a:latin typeface="Aptos"/>
              </a:rPr>
              <a:t>05</a:t>
            </a:r>
          </a:p>
        </p:txBody>
      </p:sp>
      <p:sp>
        <p:nvSpPr>
          <p:cNvPr id="32" name="Rounded Rectangle 31">
            <a:hlinkClick action="ppaction://hlinksldjump" r:id="rId2"/>
          </p:cNvPr>
          <p:cNvSpPr/>
          <p:nvPr/>
        </p:nvSpPr>
        <p:spPr>
          <a:xfrm>
            <a:off x="10378440" y="256032"/>
            <a:ext cx="1143000" cy="329184"/>
          </a:xfrm>
          <a:prstGeom prst="round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42448" y="310896"/>
            <a:ext cx="100584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900" b="1">
                <a:solidFill>
                  <a:srgbClr val="1154A6"/>
                </a:solidFill>
                <a:latin typeface="Aptos"/>
              </a:rPr>
              <a:t>MENU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1">
                <a:solidFill>
                  <a:srgbClr val="1154A6"/>
                </a:solidFill>
                <a:latin typeface="Aptos"/>
              </a:rPr>
              <a:t>PERTANYAAN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600" b="1">
                <a:solidFill>
                  <a:srgbClr val="08234E"/>
                </a:solidFill>
                <a:latin typeface="Aptos Display"/>
              </a:rPr>
              <a:t>Produk yang paling mungkin ditiru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69848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0">
                <a:solidFill>
                  <a:srgbClr val="5D6D84"/>
                </a:solidFill>
                <a:latin typeface="Aptos"/>
              </a:rPr>
              <a:t>Pilih bagian yang memberi nilai nyata, tetapi tidak menuntut modal dan data sebesar platform nasional.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01952"/>
            <a:ext cx="3794760" cy="4069080"/>
          </a:xfrm>
          <a:prstGeom prst="roundRect">
            <a:avLst/>
          </a:prstGeom>
          <a:solidFill>
            <a:srgbClr val="11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212848"/>
            <a:ext cx="283464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1">
                <a:solidFill>
                  <a:srgbClr val="FFC72C"/>
                </a:solidFill>
                <a:latin typeface="Aptos"/>
              </a:rPr>
              <a:t>KANDIDAT TERKUAT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2651760"/>
            <a:ext cx="3200400" cy="78638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ptos Display"/>
              </a:rPr>
              <a:t>Bimbel digital
berbasis komunitas</a:t>
            </a:r>
          </a:p>
        </p:txBody>
      </p:sp>
      <p:sp>
        <p:nvSpPr>
          <p:cNvPr id="8" name="Oval 7"/>
          <p:cNvSpPr/>
          <p:nvPr/>
        </p:nvSpPr>
        <p:spPr>
          <a:xfrm>
            <a:off x="1042415" y="4050791"/>
            <a:ext cx="109728" cy="1097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3977639"/>
            <a:ext cx="2706624" cy="32918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200" b="0">
                <a:solidFill>
                  <a:srgbClr val="E7F2FF"/>
                </a:solidFill>
                <a:latin typeface="Aptos"/>
              </a:rPr>
              <a:t>Video pendek + modul PDF</a:t>
            </a:r>
          </a:p>
        </p:txBody>
      </p:sp>
      <p:sp>
        <p:nvSpPr>
          <p:cNvPr id="10" name="Oval 9"/>
          <p:cNvSpPr/>
          <p:nvPr/>
        </p:nvSpPr>
        <p:spPr>
          <a:xfrm>
            <a:off x="1042415" y="4443983"/>
            <a:ext cx="109728" cy="109728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4370831"/>
            <a:ext cx="2706624" cy="32918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200" b="0">
                <a:solidFill>
                  <a:srgbClr val="E7F2FF"/>
                </a:solidFill>
                <a:latin typeface="Aptos"/>
              </a:rPr>
              <a:t>Kelas live mingguan</a:t>
            </a:r>
          </a:p>
        </p:txBody>
      </p:sp>
      <p:sp>
        <p:nvSpPr>
          <p:cNvPr id="12" name="Oval 11"/>
          <p:cNvSpPr/>
          <p:nvPr/>
        </p:nvSpPr>
        <p:spPr>
          <a:xfrm>
            <a:off x="1042415" y="4837176"/>
            <a:ext cx="109728" cy="1097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61872" y="4764024"/>
            <a:ext cx="2706624" cy="32918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200" b="0">
                <a:solidFill>
                  <a:srgbClr val="E7F2FF"/>
                </a:solidFill>
                <a:latin typeface="Aptos"/>
              </a:rPr>
              <a:t>Bank soal dan feedback</a:t>
            </a:r>
          </a:p>
        </p:txBody>
      </p:sp>
      <p:sp>
        <p:nvSpPr>
          <p:cNvPr id="14" name="Oval 13"/>
          <p:cNvSpPr/>
          <p:nvPr/>
        </p:nvSpPr>
        <p:spPr>
          <a:xfrm>
            <a:off x="1042415" y="5230368"/>
            <a:ext cx="109728" cy="109728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1872" y="5157216"/>
            <a:ext cx="2706624" cy="32918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200" b="0">
                <a:solidFill>
                  <a:srgbClr val="E7F2FF"/>
                </a:solidFill>
                <a:latin typeface="Aptos"/>
              </a:rPr>
              <a:t>Komunitas per prodi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1938528"/>
            <a:ext cx="6217920" cy="397763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58384" y="2286000"/>
            <a:ext cx="237744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1">
                <a:solidFill>
                  <a:srgbClr val="1154A6"/>
                </a:solidFill>
                <a:latin typeface="Aptos"/>
              </a:rPr>
              <a:t>KENAPA REALISTIS?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2331720"/>
            <a:ext cx="1234440" cy="2468880"/>
          </a:xfrm>
          <a:prstGeom prst="roundRect">
            <a:avLst>
              <a:gd name="adj" fmla="val 12000"/>
            </a:avLst>
          </a:prstGeom>
          <a:solidFill>
            <a:srgbClr val="08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573767" y="2532888"/>
            <a:ext cx="1014984" cy="2084832"/>
          </a:xfrm>
          <a:prstGeom prst="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44684" y="2404872"/>
            <a:ext cx="73152" cy="7315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83496" y="2715768"/>
            <a:ext cx="795528" cy="164592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83496" y="3044952"/>
            <a:ext cx="685800" cy="109728"/>
          </a:xfrm>
          <a:prstGeom prst="roundRect">
            <a:avLst/>
          </a:prstGeom>
          <a:solidFill>
            <a:srgbClr val="11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83496" y="3300984"/>
            <a:ext cx="795528" cy="109728"/>
          </a:xfrm>
          <a:prstGeom prst="roundRect">
            <a:avLst/>
          </a:prstGeom>
          <a:solidFill>
            <a:srgbClr val="54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83496" y="3557015"/>
            <a:ext cx="521208" cy="109728"/>
          </a:xfrm>
          <a:prstGeom prst="roundRect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394960" y="2862072"/>
            <a:ext cx="109728" cy="1097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14416" y="2788920"/>
            <a:ext cx="3529583" cy="32918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438"/>
                </a:solidFill>
                <a:latin typeface="Aptos"/>
              </a:rPr>
              <a:t>Mulai dari satu target: mahasiswa baru / satu rumpun</a:t>
            </a:r>
          </a:p>
        </p:txBody>
      </p:sp>
      <p:sp>
        <p:nvSpPr>
          <p:cNvPr id="27" name="Oval 26"/>
          <p:cNvSpPr/>
          <p:nvPr/>
        </p:nvSpPr>
        <p:spPr>
          <a:xfrm>
            <a:off x="5394960" y="3502152"/>
            <a:ext cx="109728" cy="109728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14416" y="3429000"/>
            <a:ext cx="3529583" cy="32918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438"/>
                </a:solidFill>
                <a:latin typeface="Aptos"/>
              </a:rPr>
              <a:t>Diferensiasi lewat mentor yang dekat dengan konteks kampus</a:t>
            </a:r>
          </a:p>
        </p:txBody>
      </p:sp>
      <p:sp>
        <p:nvSpPr>
          <p:cNvPr id="29" name="Oval 28"/>
          <p:cNvSpPr/>
          <p:nvPr/>
        </p:nvSpPr>
        <p:spPr>
          <a:xfrm>
            <a:off x="5394960" y="4142231"/>
            <a:ext cx="109728" cy="1097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14416" y="4069079"/>
            <a:ext cx="3529583" cy="32918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438"/>
                </a:solidFill>
                <a:latin typeface="Aptos"/>
              </a:rPr>
              <a:t>MVP dapat diuji dalam 4–6 minggu</a:t>
            </a:r>
          </a:p>
        </p:txBody>
      </p:sp>
      <p:sp>
        <p:nvSpPr>
          <p:cNvPr id="31" name="Oval 30"/>
          <p:cNvSpPr/>
          <p:nvPr/>
        </p:nvSpPr>
        <p:spPr>
          <a:xfrm>
            <a:off x="5394960" y="4782312"/>
            <a:ext cx="109728" cy="109728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14416" y="4709159"/>
            <a:ext cx="3529583" cy="32918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200" b="0">
                <a:solidFill>
                  <a:srgbClr val="172438"/>
                </a:solidFill>
                <a:latin typeface="Aptos"/>
              </a:rPr>
              <a:t>Pendapatan: cohort fee, membership, atau paket kampus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40080" y="6510528"/>
            <a:ext cx="301752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800" b="1">
                <a:solidFill>
                  <a:srgbClr val="5D6D84"/>
                </a:solidFill>
                <a:latin typeface="Aptos"/>
              </a:rPr>
              <a:t>UPI • ANALISIS BISNIS DIGITAL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900" b="1">
                <a:solidFill>
                  <a:srgbClr val="1154A6"/>
                </a:solidFill>
                <a:latin typeface="Aptos"/>
              </a:rPr>
              <a:t>06</a:t>
            </a:r>
          </a:p>
        </p:txBody>
      </p:sp>
      <p:sp>
        <p:nvSpPr>
          <p:cNvPr id="36" name="Rounded Rectangle 35">
            <a:hlinkClick action="ppaction://hlinksldjump" r:id="rId2"/>
          </p:cNvPr>
          <p:cNvSpPr/>
          <p:nvPr/>
        </p:nvSpPr>
        <p:spPr>
          <a:xfrm>
            <a:off x="10378440" y="256032"/>
            <a:ext cx="1143000" cy="329184"/>
          </a:xfrm>
          <a:prstGeom prst="round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42448" y="310896"/>
            <a:ext cx="100584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900" b="1">
                <a:solidFill>
                  <a:srgbClr val="1154A6"/>
                </a:solidFill>
                <a:latin typeface="Aptos"/>
              </a:rPr>
              <a:t>MENU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1">
                <a:solidFill>
                  <a:srgbClr val="1154A6"/>
                </a:solidFill>
                <a:latin typeface="Aptos"/>
              </a:rPr>
              <a:t>PERTANYAAN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600" b="1">
                <a:solidFill>
                  <a:srgbClr val="08234E"/>
                </a:solidFill>
                <a:latin typeface="Aptos Display"/>
              </a:rPr>
              <a:t>Yang tidak realistis pada tahap awal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69848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0">
                <a:solidFill>
                  <a:srgbClr val="5D6D84"/>
                </a:solidFill>
                <a:latin typeface="Aptos"/>
              </a:rPr>
              <a:t>Jangan meniru permukaan besar Ruangguru sebelum fondasi kecilnya terbukti.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65960"/>
            <a:ext cx="324612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965960"/>
            <a:ext cx="3246120" cy="146304"/>
          </a:xfrm>
          <a:prstGeom prst="rect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2423160"/>
            <a:ext cx="256032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1">
                <a:solidFill>
                  <a:srgbClr val="F76F5C"/>
                </a:solidFill>
                <a:latin typeface="Aptos"/>
              </a:rPr>
              <a:t>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926080"/>
            <a:ext cx="2514600" cy="6400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000" b="1">
                <a:solidFill>
                  <a:srgbClr val="08234E"/>
                </a:solidFill>
                <a:latin typeface="Aptos Display"/>
              </a:rPr>
              <a:t>Marketplace tutor +
semua jenjang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33271" y="3886200"/>
            <a:ext cx="2587753" cy="0"/>
          </a:xfrm>
          <a:prstGeom prst="line">
            <a:avLst/>
          </a:prstGeom>
          <a:ln w="12700">
            <a:solidFill>
              <a:srgbClr val="DC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33271" y="4133087"/>
            <a:ext cx="2468880" cy="585216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200" b="0">
                <a:solidFill>
                  <a:srgbClr val="5D6D84"/>
                </a:solidFill>
                <a:latin typeface="Aptos"/>
              </a:rPr>
              <a:t>Terlalu banyak sisi
yang harus diaktifkan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965960"/>
            <a:ext cx="324612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07992" y="1965960"/>
            <a:ext cx="3246120" cy="146304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2423160"/>
            <a:ext cx="256032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1">
                <a:solidFill>
                  <a:srgbClr val="FFC72C"/>
                </a:solidFill>
                <a:latin typeface="Aptos"/>
              </a:rPr>
              <a:t>AI PERSONALISASI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2" y="2926080"/>
            <a:ext cx="2514600" cy="6400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000" b="1">
                <a:solidFill>
                  <a:srgbClr val="08234E"/>
                </a:solidFill>
                <a:latin typeface="Aptos Display"/>
              </a:rPr>
              <a:t>Rekomendasi belajar
skala jutaan siswa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28032" y="3886200"/>
            <a:ext cx="2587752" cy="0"/>
          </a:xfrm>
          <a:prstGeom prst="line">
            <a:avLst/>
          </a:prstGeom>
          <a:ln w="12700">
            <a:solidFill>
              <a:srgbClr val="DC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828032" y="4133087"/>
            <a:ext cx="2468880" cy="585216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200" b="0">
                <a:solidFill>
                  <a:srgbClr val="5D6D84"/>
                </a:solidFill>
                <a:latin typeface="Aptos"/>
              </a:rPr>
              <a:t>Butuh data, evaluasi,
dan infrastruktur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02752" y="1965960"/>
            <a:ext cx="3246120" cy="3611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02752" y="1965960"/>
            <a:ext cx="3246120" cy="146304"/>
          </a:xfrm>
          <a:prstGeom prst="rect">
            <a:avLst/>
          </a:prstGeom>
          <a:solidFill>
            <a:srgbClr val="11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22792" y="2423160"/>
            <a:ext cx="256032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1">
                <a:solidFill>
                  <a:srgbClr val="1154A6"/>
                </a:solidFill>
                <a:latin typeface="Aptos"/>
              </a:rPr>
              <a:t>BRAND NASIONAL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22792" y="2926080"/>
            <a:ext cx="2514600" cy="6400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000" b="1">
                <a:solidFill>
                  <a:srgbClr val="08234E"/>
                </a:solidFill>
                <a:latin typeface="Aptos Display"/>
              </a:rPr>
              <a:t>Akuisisi massal
dan endorsement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22792" y="3886200"/>
            <a:ext cx="2587752" cy="0"/>
          </a:xfrm>
          <a:prstGeom prst="line">
            <a:avLst/>
          </a:prstGeom>
          <a:ln w="12700">
            <a:solidFill>
              <a:srgbClr val="DC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622792" y="4133087"/>
            <a:ext cx="2468880" cy="585216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200" b="0">
                <a:solidFill>
                  <a:srgbClr val="5D6D84"/>
                </a:solidFill>
                <a:latin typeface="Aptos"/>
              </a:rPr>
              <a:t>Biaya marketing dan
trust sangat tinggi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897880"/>
            <a:ext cx="1024128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600" b="1">
                <a:solidFill>
                  <a:srgbClr val="08234E"/>
                </a:solidFill>
                <a:latin typeface="Aptos"/>
              </a:rPr>
              <a:t>Urutan yang sehat: niche → bukti hasil → sistem → skala.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40080" y="6510528"/>
            <a:ext cx="301752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800" b="1">
                <a:solidFill>
                  <a:srgbClr val="5D6D84"/>
                </a:solidFill>
                <a:latin typeface="Aptos"/>
              </a:rPr>
              <a:t>UPI • ANALISIS BISNIS DIGITAL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900" b="1">
                <a:solidFill>
                  <a:srgbClr val="1154A6"/>
                </a:solidFill>
                <a:latin typeface="Aptos"/>
              </a:rPr>
              <a:t>07</a:t>
            </a:r>
          </a:p>
        </p:txBody>
      </p:sp>
      <p:sp>
        <p:nvSpPr>
          <p:cNvPr id="27" name="Rounded Rectangle 26">
            <a:hlinkClick action="ppaction://hlinksldjump" r:id="rId2"/>
          </p:cNvPr>
          <p:cNvSpPr/>
          <p:nvPr/>
        </p:nvSpPr>
        <p:spPr>
          <a:xfrm>
            <a:off x="10378440" y="256032"/>
            <a:ext cx="1143000" cy="329184"/>
          </a:xfrm>
          <a:prstGeom prst="round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42448" y="310896"/>
            <a:ext cx="100584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900" b="1">
                <a:solidFill>
                  <a:srgbClr val="1154A6"/>
                </a:solidFill>
                <a:latin typeface="Aptos"/>
              </a:rPr>
              <a:t>MENU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594360"/>
            <a:ext cx="4023360" cy="24688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1">
                <a:solidFill>
                  <a:srgbClr val="FFC72C"/>
                </a:solidFill>
                <a:latin typeface="Aptos"/>
              </a:rPr>
              <a:t>MINI QUIZ • PILIH STRATEGI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7955279" cy="9601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Aptos Display"/>
              </a:rPr>
              <a:t>Jika kamu membangun bimbel mahasiswa besok,
langkah pertama yang paling masuk akal apa?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971800"/>
            <a:ext cx="4983480" cy="987552"/>
          </a:xfrm>
          <a:prstGeom prst="roundRect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3227832"/>
            <a:ext cx="402336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81912" y="3218688"/>
            <a:ext cx="3840480" cy="33832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Buat marketplace tutor nasional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71800"/>
            <a:ext cx="4983480" cy="987552"/>
          </a:xfrm>
          <a:prstGeom prst="roundRect">
            <a:avLst/>
          </a:prstGeom>
          <a:solidFill>
            <a:srgbClr val="54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3227832"/>
            <a:ext cx="402336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2592" y="3218688"/>
            <a:ext cx="3840480" cy="33832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Uji satu cohort + bank soal prodi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34840"/>
            <a:ext cx="4983480" cy="987552"/>
          </a:xfrm>
          <a:prstGeom prst="round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690872"/>
            <a:ext cx="402336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600" b="1">
                <a:solidFill>
                  <a:srgbClr val="08234E"/>
                </a:solidFill>
                <a:latin typeface="Aptos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81912" y="4681727"/>
            <a:ext cx="3840480" cy="33832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1">
                <a:solidFill>
                  <a:srgbClr val="08234E"/>
                </a:solidFill>
                <a:latin typeface="Aptos"/>
              </a:rPr>
              <a:t>Bangun AI rekomendasi sejak hari pertama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434840"/>
            <a:ext cx="4983480" cy="987552"/>
          </a:xfrm>
          <a:prstGeom prst="roundRect">
            <a:avLst/>
          </a:prstGeom>
          <a:solidFill>
            <a:srgbClr val="115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4690872"/>
            <a:ext cx="402336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2592" y="4681727"/>
            <a:ext cx="3840480" cy="33832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ptos"/>
              </a:rPr>
              <a:t>Beli iklan besar-besaran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6510528"/>
            <a:ext cx="301752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800" b="1">
                <a:solidFill>
                  <a:srgbClr val="5D6D84"/>
                </a:solidFill>
                <a:latin typeface="Aptos"/>
              </a:rPr>
              <a:t>UPI • ANALISIS BISNIS DIGITAL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900" b="1">
                <a:solidFill>
                  <a:srgbClr val="1154A6"/>
                </a:solidFill>
                <a:latin typeface="Aptos"/>
              </a:rPr>
              <a:t>08</a:t>
            </a:r>
          </a:p>
        </p:txBody>
      </p:sp>
      <p:sp>
        <p:nvSpPr>
          <p:cNvPr id="19" name="Rounded Rectangle 18">
            <a:hlinkClick action="ppaction://hlinksldjump" r:id="rId2"/>
          </p:cNvPr>
          <p:cNvSpPr/>
          <p:nvPr/>
        </p:nvSpPr>
        <p:spPr>
          <a:xfrm>
            <a:off x="10378440" y="256032"/>
            <a:ext cx="1143000" cy="329184"/>
          </a:xfrm>
          <a:prstGeom prst="round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42448" y="310896"/>
            <a:ext cx="100584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900" b="1">
                <a:solidFill>
                  <a:srgbClr val="1154A6"/>
                </a:solidFill>
                <a:latin typeface="Aptos"/>
              </a:rPr>
              <a:t>MENU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1">
                <a:solidFill>
                  <a:srgbClr val="1154A6"/>
                </a:solidFill>
                <a:latin typeface="Aptos"/>
              </a:rPr>
              <a:t>JAWABAN KUIS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600" b="1">
                <a:solidFill>
                  <a:srgbClr val="08234E"/>
                </a:solidFill>
                <a:latin typeface="Aptos Display"/>
              </a:rPr>
              <a:t>Jawaban paling rasional: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69848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0">
                <a:solidFill>
                  <a:srgbClr val="5D6D84"/>
                </a:solidFill>
                <a:latin typeface="Aptos"/>
              </a:rPr>
              <a:t>Bukan karena paling kecil, tetapi karena paling cepat menghasilkan bukti belajar dan bukti pasar.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65960"/>
            <a:ext cx="3794760" cy="3566160"/>
          </a:xfrm>
          <a:prstGeom prst="roundRect">
            <a:avLst/>
          </a:prstGeom>
          <a:solidFill>
            <a:srgbClr val="54C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331720"/>
            <a:ext cx="731520" cy="7315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Aptos Display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542032"/>
            <a:ext cx="214884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1">
                <a:solidFill>
                  <a:srgbClr val="08234E"/>
                </a:solidFill>
                <a:latin typeface="Aptos"/>
              </a:rPr>
              <a:t>COHORT PERTAMA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3429000"/>
            <a:ext cx="2971800" cy="8229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100" b="1">
                <a:solidFill>
                  <a:srgbClr val="08234E"/>
                </a:solidFill>
                <a:latin typeface="Aptos Display"/>
              </a:rPr>
              <a:t>Satu target yang jelas.
Satu masalah yang dapat
diukur.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74920" y="1965960"/>
            <a:ext cx="6080760" cy="35661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40680" y="23591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700" b="1">
                <a:solidFill>
                  <a:srgbClr val="08234E"/>
                </a:solidFill>
                <a:latin typeface="Aptos"/>
              </a:rPr>
              <a:t>Eksperimen 30 hari</a:t>
            </a:r>
          </a:p>
        </p:txBody>
      </p:sp>
      <p:sp>
        <p:nvSpPr>
          <p:cNvPr id="11" name="Oval 10"/>
          <p:cNvSpPr/>
          <p:nvPr/>
        </p:nvSpPr>
        <p:spPr>
          <a:xfrm>
            <a:off x="5468112" y="2980944"/>
            <a:ext cx="109728" cy="1097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87568" y="2907792"/>
            <a:ext cx="4718304" cy="32918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72438"/>
                </a:solidFill>
                <a:latin typeface="Aptos"/>
              </a:rPr>
              <a:t>Rekrut 30–50 mahasiswa satu prodi</a:t>
            </a:r>
          </a:p>
        </p:txBody>
      </p:sp>
      <p:sp>
        <p:nvSpPr>
          <p:cNvPr id="13" name="Oval 12"/>
          <p:cNvSpPr/>
          <p:nvPr/>
        </p:nvSpPr>
        <p:spPr>
          <a:xfrm>
            <a:off x="5468112" y="3547872"/>
            <a:ext cx="109728" cy="109728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87568" y="3474720"/>
            <a:ext cx="4718304" cy="32918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72438"/>
                </a:solidFill>
                <a:latin typeface="Aptos"/>
              </a:rPr>
              <a:t>Rilis 10 modul + 2 sesi live per minggu</a:t>
            </a:r>
          </a:p>
        </p:txBody>
      </p:sp>
      <p:sp>
        <p:nvSpPr>
          <p:cNvPr id="15" name="Oval 14"/>
          <p:cNvSpPr/>
          <p:nvPr/>
        </p:nvSpPr>
        <p:spPr>
          <a:xfrm>
            <a:off x="5468112" y="4114800"/>
            <a:ext cx="109728" cy="1097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87568" y="4041648"/>
            <a:ext cx="4718304" cy="32918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72438"/>
                </a:solidFill>
                <a:latin typeface="Aptos"/>
              </a:rPr>
              <a:t>Ukur completion, pre/post test, dan referral</a:t>
            </a:r>
          </a:p>
        </p:txBody>
      </p:sp>
      <p:sp>
        <p:nvSpPr>
          <p:cNvPr id="17" name="Oval 16"/>
          <p:cNvSpPr/>
          <p:nvPr/>
        </p:nvSpPr>
        <p:spPr>
          <a:xfrm>
            <a:off x="5468112" y="4681728"/>
            <a:ext cx="109728" cy="109728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87568" y="4608576"/>
            <a:ext cx="4718304" cy="32918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72438"/>
                </a:solidFill>
                <a:latin typeface="Aptos"/>
              </a:rPr>
              <a:t>Iterasi sebelum menambah fitur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0080" y="6510528"/>
            <a:ext cx="301752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800" b="1">
                <a:solidFill>
                  <a:srgbClr val="5D6D84"/>
                </a:solidFill>
                <a:latin typeface="Aptos"/>
              </a:rPr>
              <a:t>UPI • ANALISIS BISNIS DIGITAL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900" b="1">
                <a:solidFill>
                  <a:srgbClr val="1154A6"/>
                </a:solidFill>
                <a:latin typeface="Aptos"/>
              </a:rPr>
              <a:t>09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10378440" y="256032"/>
            <a:ext cx="1143000" cy="329184"/>
          </a:xfrm>
          <a:prstGeom prst="round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42448" y="310896"/>
            <a:ext cx="100584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900" b="1">
                <a:solidFill>
                  <a:srgbClr val="1154A6"/>
                </a:solidFill>
                <a:latin typeface="Aptos"/>
              </a:rPr>
              <a:t>MENU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3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49808" y="566928"/>
            <a:ext cx="5303520" cy="24688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1">
                <a:solidFill>
                  <a:srgbClr val="FFC72C"/>
                </a:solidFill>
                <a:latin typeface="Aptos"/>
              </a:rPr>
              <a:t>LIMA JAWABAN DALAM SATU NAPAS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8138160" cy="8229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 Display"/>
              </a:rPr>
              <a:t>Dari Ruangguru, yang ditiru bukan ukurannya.
Yang ditiru adalah logika belajarnya.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3017520"/>
            <a:ext cx="1874519" cy="1920240"/>
          </a:xfrm>
          <a:prstGeom prst="round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461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1">
                <a:solidFill>
                  <a:srgbClr val="1154A6"/>
                </a:solidFill>
                <a:latin typeface="Apto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11880"/>
            <a:ext cx="150876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Siapa?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33087"/>
            <a:ext cx="1536192" cy="5029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0">
                <a:solidFill>
                  <a:srgbClr val="DEEBFF"/>
                </a:solidFill>
                <a:latin typeface="Aptos"/>
              </a:rPr>
              <a:t>Siswa memakai;
orang tua sering membeli.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62656" y="3017520"/>
            <a:ext cx="1874519" cy="1920240"/>
          </a:xfrm>
          <a:prstGeom prst="round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7248" y="32461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1">
                <a:solidFill>
                  <a:srgbClr val="F76F5C"/>
                </a:solidFill>
                <a:latin typeface="Aptos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27248" y="3611880"/>
            <a:ext cx="150876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Masalah?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27248" y="4133087"/>
            <a:ext cx="1536192" cy="5029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0">
                <a:solidFill>
                  <a:srgbClr val="DEEBFF"/>
                </a:solidFill>
                <a:latin typeface="Aptos"/>
              </a:rPr>
              <a:t>Akses belajar yang
lebih fleksibel.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75504" y="3017520"/>
            <a:ext cx="1874519" cy="1920240"/>
          </a:xfrm>
          <a:prstGeom prst="round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0096" y="32461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1">
                <a:solidFill>
                  <a:srgbClr val="54C4A3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0096" y="3611880"/>
            <a:ext cx="150876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Mengapa banyak?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40096" y="4133087"/>
            <a:ext cx="1536192" cy="5029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0">
                <a:solidFill>
                  <a:srgbClr val="DEEBFF"/>
                </a:solidFill>
                <a:latin typeface="Aptos"/>
              </a:rPr>
              <a:t>Segmen dan momen
belajar berbeda.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88352" y="3017520"/>
            <a:ext cx="1874519" cy="1920240"/>
          </a:xfrm>
          <a:prstGeom prst="round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2944" y="32461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1">
                <a:solidFill>
                  <a:srgbClr val="FFC72C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2944" y="3611880"/>
            <a:ext cx="150876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Tiru apa?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52944" y="4133087"/>
            <a:ext cx="1536192" cy="5029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0">
                <a:solidFill>
                  <a:srgbClr val="DEEBFF"/>
                </a:solidFill>
                <a:latin typeface="Aptos"/>
              </a:rPr>
              <a:t>Produk digital
berbasis cohort.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3017520"/>
            <a:ext cx="1874519" cy="1920240"/>
          </a:xfrm>
          <a:prstGeom prst="roundRect">
            <a:avLst/>
          </a:prstGeom>
          <a:solidFill>
            <a:srgbClr val="1637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65792" y="3246120"/>
            <a:ext cx="411480" cy="20116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65792" y="3611880"/>
            <a:ext cx="150876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Hindari apa?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4133087"/>
            <a:ext cx="1536192" cy="5029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0">
                <a:solidFill>
                  <a:srgbClr val="DEEBFF"/>
                </a:solidFill>
                <a:latin typeface="Aptos"/>
              </a:rPr>
              <a:t>Skala, AI, dan
ekosistem terlalu dini.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897880"/>
            <a:ext cx="10058400" cy="27432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1300" b="1">
                <a:solidFill>
                  <a:srgbClr val="FFC72C"/>
                </a:solidFill>
                <a:latin typeface="Aptos"/>
              </a:rPr>
              <a:t>Pertanyaan penutup: apa satu niche mahasiswa yang ingin kamu uji minggu ini?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0080" y="6510528"/>
            <a:ext cx="301752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800" b="1">
                <a:solidFill>
                  <a:srgbClr val="5D6D84"/>
                </a:solidFill>
                <a:latin typeface="Aptos"/>
              </a:rPr>
              <a:t>UPI • ANALISIS BISNIS DIGITAL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900" b="1">
                <a:solidFill>
                  <a:srgbClr val="1154A6"/>
                </a:solidFill>
                <a:latin typeface="Aptos"/>
              </a:rPr>
              <a:t>10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10378440" y="256032"/>
            <a:ext cx="1143000" cy="329184"/>
          </a:xfrm>
          <a:prstGeom prst="round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42448" y="310896"/>
            <a:ext cx="100584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900" b="1">
                <a:solidFill>
                  <a:srgbClr val="1154A6"/>
                </a:solidFill>
                <a:latin typeface="Aptos"/>
              </a:rPr>
              <a:t>MENU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1">
                <a:solidFill>
                  <a:srgbClr val="1154A6"/>
                </a:solidFill>
                <a:latin typeface="Aptos"/>
              </a:rPr>
              <a:t>CATATAN SUMBER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789920" cy="5943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600" b="1">
                <a:solidFill>
                  <a:srgbClr val="08234E"/>
                </a:solidFill>
                <a:latin typeface="Aptos Display"/>
              </a:rPr>
              <a:t>Basis analisis dan cara membaca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698480" cy="36576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0">
                <a:solidFill>
                  <a:srgbClr val="5D6D84"/>
                </a:solidFill>
                <a:latin typeface="Aptos"/>
              </a:rPr>
              <a:t>Beberapa kesimpulan bersifat analitis: gunakan sebagai hipotesis strategi, bukan klaim laporan keuangan.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6400800" cy="3840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267712"/>
            <a:ext cx="210312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1">
                <a:solidFill>
                  <a:srgbClr val="1154A6"/>
                </a:solidFill>
                <a:latin typeface="Aptos"/>
              </a:rPr>
              <a:t>SUMBER RUJUKAN</a:t>
            </a:r>
          </a:p>
        </p:txBody>
      </p:sp>
      <p:sp>
        <p:nvSpPr>
          <p:cNvPr id="7" name="Oval 6"/>
          <p:cNvSpPr/>
          <p:nvPr/>
        </p:nvSpPr>
        <p:spPr>
          <a:xfrm>
            <a:off x="1078992" y="2816352"/>
            <a:ext cx="109728" cy="1097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2743200"/>
            <a:ext cx="5358383" cy="32918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72438"/>
                </a:solidFill>
                <a:latin typeface="Aptos"/>
              </a:rPr>
              <a:t>Ruangguru — halaman produk dan layanan belajar: ruangguru.com</a:t>
            </a:r>
          </a:p>
        </p:txBody>
      </p:sp>
      <p:sp>
        <p:nvSpPr>
          <p:cNvPr id="9" name="Oval 8"/>
          <p:cNvSpPr/>
          <p:nvPr/>
        </p:nvSpPr>
        <p:spPr>
          <a:xfrm>
            <a:off x="1078992" y="3438144"/>
            <a:ext cx="109728" cy="109728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98448" y="3364992"/>
            <a:ext cx="5358383" cy="32918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72438"/>
                </a:solidFill>
                <a:latin typeface="Aptos"/>
              </a:rPr>
              <a:t>Google Play — deskripsi aplikasi Ruangguru dan fitur pengguna</a:t>
            </a:r>
          </a:p>
        </p:txBody>
      </p:sp>
      <p:sp>
        <p:nvSpPr>
          <p:cNvPr id="11" name="Oval 10"/>
          <p:cNvSpPr/>
          <p:nvPr/>
        </p:nvSpPr>
        <p:spPr>
          <a:xfrm>
            <a:off x="1078992" y="4059936"/>
            <a:ext cx="109728" cy="109728"/>
          </a:xfrm>
          <a:prstGeom prst="ellipse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3986784"/>
            <a:ext cx="5358383" cy="32918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72438"/>
                </a:solidFill>
                <a:latin typeface="Aptos"/>
              </a:rPr>
              <a:t>Publikasi media bisnis Indonesia tentang model edtech dan pembelajaran digital</a:t>
            </a:r>
          </a:p>
        </p:txBody>
      </p:sp>
      <p:sp>
        <p:nvSpPr>
          <p:cNvPr id="13" name="Oval 12"/>
          <p:cNvSpPr/>
          <p:nvPr/>
        </p:nvSpPr>
        <p:spPr>
          <a:xfrm>
            <a:off x="1078992" y="4681728"/>
            <a:ext cx="109728" cy="109728"/>
          </a:xfrm>
          <a:prstGeom prst="ellipse">
            <a:avLst/>
          </a:prstGeom>
          <a:solidFill>
            <a:srgbClr val="F7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98448" y="4608576"/>
            <a:ext cx="5358383" cy="329184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300" b="0">
                <a:solidFill>
                  <a:srgbClr val="172438"/>
                </a:solidFill>
                <a:latin typeface="Aptos"/>
              </a:rPr>
              <a:t>Observasi strategi produk: segmentasi, bundling, dan freemium / subscription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43800" y="1920240"/>
            <a:ext cx="3657600" cy="3840480"/>
          </a:xfrm>
          <a:prstGeom prst="round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82127" y="2267712"/>
            <a:ext cx="283464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100" b="1">
                <a:solidFill>
                  <a:srgbClr val="1154A6"/>
                </a:solidFill>
                <a:latin typeface="Aptos"/>
              </a:rPr>
              <a:t>GUNAKAN SAAT PRESENTASI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9560" y="2816352"/>
            <a:ext cx="2651760" cy="56692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2000" b="1">
                <a:solidFill>
                  <a:srgbClr val="08234E"/>
                </a:solidFill>
                <a:latin typeface="Aptos Display"/>
              </a:rPr>
              <a:t>Klik MENU
untuk lompat topik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3886200"/>
            <a:ext cx="2743200" cy="56692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500" b="1">
                <a:solidFill>
                  <a:srgbClr val="08234E"/>
                </a:solidFill>
                <a:latin typeface="Aptos"/>
              </a:rPr>
              <a:t>Klik kartu kuis
untuk memancing diskusi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9560" y="5074920"/>
            <a:ext cx="2743200" cy="22860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1000" b="0">
                <a:solidFill>
                  <a:srgbClr val="5D6D84"/>
                </a:solidFill>
                <a:latin typeface="Aptos"/>
              </a:rPr>
              <a:t>Terakhir diperbarui: September 2026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21792" y="6446520"/>
            <a:ext cx="10945368" cy="0"/>
          </a:xfrm>
          <a:prstGeom prst="line">
            <a:avLst/>
          </a:prstGeom>
          <a:ln w="12700">
            <a:solidFill>
              <a:srgbClr val="D7E2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510528"/>
            <a:ext cx="3017520" cy="182880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l"/>
            <a:r>
              <a:rPr sz="800" b="1">
                <a:solidFill>
                  <a:srgbClr val="5D6D84"/>
                </a:solidFill>
                <a:latin typeface="Aptos"/>
              </a:rPr>
              <a:t>UPI • ANALISIS BISNIS DIGITAL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5952" y="6492240"/>
            <a:ext cx="502920" cy="201168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r"/>
            <a:r>
              <a:rPr sz="900" b="1">
                <a:solidFill>
                  <a:srgbClr val="1154A6"/>
                </a:solidFill>
                <a:latin typeface="Aptos"/>
              </a:rPr>
              <a:t>11</a:t>
            </a:r>
          </a:p>
        </p:txBody>
      </p:sp>
      <p:sp>
        <p:nvSpPr>
          <p:cNvPr id="23" name="Rounded Rectangle 22">
            <a:hlinkClick action="ppaction://hlinksldjump" r:id="rId2"/>
          </p:cNvPr>
          <p:cNvSpPr/>
          <p:nvPr/>
        </p:nvSpPr>
        <p:spPr>
          <a:xfrm>
            <a:off x="10378440" y="256032"/>
            <a:ext cx="1143000" cy="329184"/>
          </a:xfrm>
          <a:prstGeom prst="roundRect">
            <a:avLst/>
          </a:prstGeom>
          <a:solidFill>
            <a:srgbClr val="E1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42448" y="310896"/>
            <a:ext cx="1005840" cy="164592"/>
          </a:xfrm>
          <a:prstGeom prst="rect">
            <a:avLst/>
          </a:prstGeom>
          <a:noFill/>
        </p:spPr>
        <p:txBody>
          <a:bodyPr wrap="square" lIns="73152" rIns="73152" tIns="36576" bIns="27432" anchor="t">
            <a:spAutoFit/>
          </a:bodyPr>
          <a:lstStyle/>
          <a:p>
            <a:pPr algn="ctr"/>
            <a:r>
              <a:rPr sz="900" b="1">
                <a:solidFill>
                  <a:srgbClr val="1154A6"/>
                </a:solidFill>
                <a:latin typeface="Aptos"/>
              </a:rPr>
              <a:t>MENU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